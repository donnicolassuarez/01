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01/paquete_claude_design/imagenes_OMS/OMS_S1_portad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822960"/>
            <a:ext cx="1554480" cy="16776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95777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INTERNACIONALES EN BOLIVIA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369258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Mundial de la Salud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4420818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cuida la salud en Bolivia?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Presentador 1]  ·  [Institución]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ESPECIALIZADO DE LA ONU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OMS?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6" name="Image 0" descr="/home/user/01/paquete_claude_design/imagenes_OMS/OMS_S2_que-es-la-oms_sede-gineb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417320"/>
            <a:ext cx="475488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50876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firmada en 1946; entró en vigor el </a:t>
            </a:r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abril de 1948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especializado de las Naciones Unidas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en </a:t>
            </a:r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Ginebra, Suiza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países miembros (incluyendo Bolivia)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6035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840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B2620"/>
                </a:solidFill>
              </a:rPr>
              <a:t>"Estado de bienestar físico, mental y social completo,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2B2620"/>
                </a:solidFill>
              </a:rPr>
              <a:t>no sólo la ausencia de enfermedad"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</a:rPr>
              <a:t>— Definición de Salud, OMS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¿Sabían que…?  </a:t>
            </a:r>
            <a:pPr algn="l"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nació la OMS, la tuberculosis era la principal causa de muerte en el mundo.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FUNCIONES ESTRATÉGICAS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Principales de la OMS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4533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Normas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74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estándares internacionales de salud que todos los países deben cumplir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9689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de Enfermedades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26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enfermedades en todo el mundo, detecta brotes y epidemias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4845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Técnica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7764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países a fortalecer sistemas de salud y entrena personal médico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700016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0292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investigación científica y comparte evidencia con todos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961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América:  </a:t>
            </a:r>
            <a:pPr algn="l"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OMS funciona a través de PAHO (Organización Panamericana de la Salud), con oficina en La Paz.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Y 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OMS en Bolivia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01/paquete_claude_design/imagenes_OMS/OMS_S4_oms-en-bolivia_skyline-lapa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1091672" cy="2331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85616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Paz, sede de la oficina de PAHO en Bolivia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desafíos de salud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20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Tuberculosis (105 casos/100,000 hab., 2023)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vacunación insuficiente en algunas comunidades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VIH/SIDA (principalmente La Paz y Santa Cruz)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Desnutrición infantil en el altiplano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4206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logro sostenido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45352" y="45720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de las Américas libre de poliomielitis desde 1994 (30+ años)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cooperantes técnicos en las principales ciudades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permanente con el Ministerio de Salud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Tuberculosis en Bolivia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01/paquete_claude_design/imagenes_OMS/OMS_S5_caso-tuberculosis_bacteria-microscop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1417320"/>
            <a:ext cx="3227832" cy="32278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0" y="46634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Mycobacterium tuberculosis (microscopía electrónica) — CDC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35240" cy="914400"/>
        </p:xfrm>
        <a:graphic>
          <a:graphicData uri="http://schemas.openxmlformats.org/drawingml/2006/table">
            <a:tbl>
              <a:tblPr/>
              <a:tblGrid>
                <a:gridCol w="4892040"/>
                <a:gridCol w="27432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 Bolivia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/ 100,000 hab.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 Región Américas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 / 100,000 hab.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veces mayor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3063240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OMS — DOTS: </a:t>
            </a:r>
            <a:pPr algn="l" indent="0" marL="0"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supervisado directamente por personal de salud, medicamentos gratuitos en la red pública, 6 meses de duración.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7635240" cy="105156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77240" y="4087368"/>
            <a:ext cx="7178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honesto:  </a:t>
            </a:r>
            <a:pPr algn="l" indent="0" marL="0"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la OMS, la incidencia de TB en la Región de las Américas aumentó 20% entre 2015 y 2023 — no es una historia de progreso lineal.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1663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que persisten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406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Subdiagnóstico en zonas rurales  · 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resistente a fármacos (MDR-TB)  · 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del tratamiento supervisado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Sarampión — Cuando un Logro No Es Permanente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40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Último caso endémico (Amarete, La Paz)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Bolivia certificada libre de sarampión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Recertificación de todos los departamentos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Jun.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 Sanitaria Nacional por nuevo brote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657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raíz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50208"/>
          <a:ext cx="5760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2B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dosis SRP (&lt;1 año)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home/user/01/paquete_claude_design/imagenes_OMS/OMS_S6_caso-sarampion_vacuna-mm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29400" y="1463040"/>
            <a:ext cx="2194560" cy="2926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 MMR/SRP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9098280" y="1463040"/>
            <a:ext cx="2542032" cy="288036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281160" y="160020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2BC"/>
                </a:solidFill>
              </a:rPr>
              <a:t>Contraste — Poliomielitis
</a:t>
            </a:r>
            <a:endParaRPr lang="en-US" sz="13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B2620"/>
                </a:solidFill>
              </a:rPr>
              <a:t>Región libre de polio desde 1994. Sin casos desde 1991 (último: Perú). Más de 30 años de éxito ininterrumpido.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lección:  </a:t>
            </a:r>
            <a:pPr algn="l" indent="0" marL="0"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logro sanitario no es un punto de llegada. La cobertura cayó silenciosamente años antes del brote.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— OMS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Trabajo Nunca Terminado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3774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En salud pública, no hay logros permanentes,
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9FD3F0"/>
                </a:solidFill>
              </a:rPr>
              <a:t>solo logros sostenidos.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4645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 de TB vs. promedio regional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3931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→ 95%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4645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cobertura SRP frente a la meta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48640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tuberculosis nunca llegó a controlarse del todo; el sarampión sí se controló, y aun así volvió.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B3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01/paquete_claude_design/imagenes_UNESCO/UNESCO_S1_portad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248" y="822960"/>
            <a:ext cx="2743200" cy="70692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87081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INTERNACIONALES EN BOLIVIA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398561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3450121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Protegiendo la Cultura y Educación en Bolivia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Presentador 2]  ·  [Institución]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ESPECIALIZADO DE LA ONU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UNESCO?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en </a:t>
            </a:r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</a:t>
            </a:r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después de la Segunda Guerra Mundial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especializado de las Naciones Unidas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en </a:t>
            </a:r>
            <a:pPr algn="l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París, Francia</a:t>
            </a:r>
            <a:endParaRPr lang="en-US" sz="1500" dirty="0"/>
          </a:p>
          <a:p>
            <a:pPr algn="l"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países miembros (incluyendo Bolivia)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6035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63931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B2620"/>
                </a:solidFill>
              </a:rPr>
              <a:t>"Puesto que las guerras nacen en la mente de los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2B2620"/>
                </a:solidFill>
              </a:rPr>
              <a:t>hombres, es en la mente de los hombres donde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2B2620"/>
                </a:solidFill>
              </a:rPr>
              <a:t>deben erigirse los baluartes de la paz"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52"/>
                </a:solidFill>
              </a:rPr>
              <a:t>— Lema de UNESCO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¿Sabían que…?  </a:t>
            </a:r>
            <a:pPr algn="l" indent="0" marL="0">
              <a:buNone/>
            </a:pPr>
            <a:r>
              <a:rPr lang="en-US" sz="13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Bolivia tiene 7 sitios en la Lista de Patrimonio Mundial de UNESCO.</a:t>
            </a:r>
            <a:endParaRPr lang="en-US" sz="1300" dirty="0"/>
          </a:p>
        </p:txBody>
      </p:sp>
      <p:pic>
        <p:nvPicPr>
          <p:cNvPr id="10" name="Image 0" descr="/home/user/01/paquete_claude_design/imagenes_UNESCO/UNESCO_S2_que-es-unesc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377440"/>
            <a:ext cx="4206240" cy="10839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PILARES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Principales de UNESCO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453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de Calidad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equitativo para todos, con énfasis en niñas y minorías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9689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Cultural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926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sitios arqueológicos y preserva tradiciones vivas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484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 de Expresión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77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Defiende la libertad de prensa y el acceso a información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7000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y Tecnología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029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investigación e innovación para el desarrollo</a:t>
            </a:r>
            <a:endParaRPr lang="en-US" sz="1200" dirty="0"/>
          </a:p>
        </p:txBody>
      </p:sp>
      <p:pic>
        <p:nvPicPr>
          <p:cNvPr id="22" name="Image 0" descr="/home/user/01/paquete_claude_design/imagenes_UNESCO/UNESCO_S3_que-hace-unesco_emblema-patrimonio-mund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0"/>
            <a:ext cx="3474720" cy="34747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863840" y="5440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Programas UNESCO en La Paz coordina educación, patrimonio y comunicación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RECONOCIMIENTOS OFICIALES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6751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Sitio (Patrimonio Mundial)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5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 de Potosí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Misiones Jesuíticas de Chiquitos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Sucre (centro histórico)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Fuerte de Samaipata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Tiwanaku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P.N. Noel Kempff Mercado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Qhapaq Ñan (transnacional)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74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9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Patrimonio Cultural Inmaterial (lista aparte):  </a:t>
            </a:r>
            <a:pPr indent="0" marL="0"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Carnaval de Oruro (2001)</a:t>
            </a:r>
            <a:endParaRPr lang="en-US" sz="1250" dirty="0"/>
          </a:p>
        </p:txBody>
      </p:sp>
      <p:pic>
        <p:nvPicPr>
          <p:cNvPr id="8" name="Image 0" descr="/home/user/01/paquete_claude_design/imagenes_UNESCO/UNESCO_S4_unesco-en-bolivia_mapa-departa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54480"/>
            <a:ext cx="3931920" cy="44430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98080" y="5806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activos: educación para el desarrollo sostenible, alfabetización rural, formación docente, preservación de lenguas indígenas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Tiwanaku: Civilización Ancestral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home/user/01/paquete_claude_design/imagenes_UNESCO/UNESCO_S5a_tiwanaku_puerta-del-so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417320"/>
            <a:ext cx="3547872" cy="2240280"/>
          </a:xfrm>
          <a:prstGeom prst="rect">
            <a:avLst/>
          </a:prstGeom>
        </p:spPr>
      </p:pic>
      <p:pic>
        <p:nvPicPr>
          <p:cNvPr id="7" name="Image 1" descr="/home/user/01/paquete_claude_design/imagenes_UNESCO/UNESCO_S5b_tiwanaku_templo-kalasasay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0" y="3767328"/>
            <a:ext cx="3547872" cy="2240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92440" y="365760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del Sol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8092440" y="603504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Templo de Kalasasaya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50876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arqueológico a 20 km de La Paz (71.5 hectáreas), Provincia de Ingavi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Apogeo del imperio entre los años 500 y 900 d.C.</a:t>
            </a:r>
            <a:endParaRPr lang="en-US" sz="13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 extendida por los Andes del sur (hoy Perú, Chile, Argentina)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632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UNESCO (2000) — Ficha oficial 567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832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iii: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 excepcional del poder del imperio Tiwanaku</a:t>
            </a:r>
            <a:endParaRPr lang="en-US" sz="12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iv: </a:t>
            </a:r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ceremonial y pública excepcional de los Andes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7223760" cy="16002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4645152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Conservación e impacto
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620"/>
                </a:solidFill>
              </a:rPr>
              <a:t>Restauración de estructuras dañadas por sismos y sistemas de drenaje contra erosión, en trabajo conjunto con el Ministerio de Culturas de Bolivia. ~200,000–250,000 visitantes anuales; símbolo de orgullo para comunidades aymara.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2 — PATRIMONIO INMATERIAL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Carnaval de Oruro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en Bolivia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/home/user/01/paquete_claude_design/imagenes_UNESCO/UNESCO_S6_carnaval-oruro_diablad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17320"/>
            <a:ext cx="3822192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818120" y="6108192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Danzarines de la Diablada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5087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Celebración religiosa y folclórica, febrero/marzo, en Oruro</a:t>
            </a:r>
            <a:endParaRPr lang="en-US" sz="13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danzarines y músicos, procesión de 2 días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23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Danzas principales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24912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Diablada: </a:t>
            </a:r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batalla entre el bien y el mal</a:t>
            </a:r>
            <a:endParaRPr lang="en-US" sz="12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Morenada: </a:t>
            </a:r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la esclavitud africana</a:t>
            </a:r>
            <a:endParaRPr lang="en-US" sz="12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Tinku: </a:t>
            </a:r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confrontación ritual indígena</a:t>
            </a:r>
            <a:endParaRPr lang="en-US" sz="125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Andanza: </a:t>
            </a:r>
            <a:pPr algn="l"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danza de celebración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434840"/>
            <a:ext cx="6949440" cy="914400"/>
          </a:xfrm>
          <a:prstGeom prst="rect">
            <a:avLst/>
          </a:prstGeom>
          <a:solidFill>
            <a:srgbClr val="EAE6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54456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UNESCO (2001): </a:t>
            </a:r>
            <a:pPr algn="l" indent="0" marL="0">
              <a:buNone/>
            </a:pPr>
            <a:r>
              <a:rPr lang="en-US" sz="12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 Inmaterial de la Humanidad — uno de los primeros reconocidos en esta categoría.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486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Desafíos: presión del turismo, menor interés juvenil, costo alto de participación, modernización vs. tradición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3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— UNESCO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Educación</a:t>
            </a:r>
            <a:endParaRPr lang="en-US" sz="4000" dirty="0"/>
          </a:p>
        </p:txBody>
      </p:sp>
      <p:pic>
        <p:nvPicPr>
          <p:cNvPr id="4" name="Image 0" descr="/home/user/01/paquete_claude_design/imagenes_UNESCO/UNESCO_S7_conclusion_templo-kalasasaya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3410">
              <a:alpha val="65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88720" y="201168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cultura es un derecho humano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880360"/>
            <a:ext cx="9265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OMS cuida nuestra salud física. UNESCO cuida nuestra salud cultural.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0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son necesarias para que Bolivia prospere.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4919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Patrimonio Mundial + Inmaterial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años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4919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historia, de Tiwanaku al Carnaval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585216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Tanto la OMS como UNESCO trabajan por un Bolivia más desarrollado, más saludable y con mayor orgullo en su cultura.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2026-09-25T04:11:23Z</dcterms:created>
  <dcterms:modified xsi:type="dcterms:W3CDTF">2026-09-25T04:11:23Z</dcterms:modified>
</cp:coreProperties>
</file>