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3D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01/paquete_claude_design/imagenes_OMS/OMS_S1_portada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18608" y="822960"/>
            <a:ext cx="1554480" cy="16776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2957778"/>
            <a:ext cx="10728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E8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ORGANISMOS INTERNACIONALES EN BOLIVIA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3369258"/>
            <a:ext cx="107286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Organización Mundial de la Salud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1188720" y="4420818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E8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¿Cómo cuida la salud en Bolivia?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594360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9B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[Nombre Presentador 1]  ·  [Institución]  · 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07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ORGANISMO ESPECIALIZADO DE LA ONU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es la OMS?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OMS en Bolivia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5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pic>
        <p:nvPicPr>
          <p:cNvPr id="6" name="Image 0" descr="/home/user/01/paquete_claude_design/imagenes_OMS/OMS_S2_que-es-la-oms_sede-ginebr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49440" y="1417320"/>
            <a:ext cx="4754880" cy="34290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949440" y="4864608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5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Sede en Ginebra, Suiza</a:t>
            </a:r>
            <a:endParaRPr lang="en-US" sz="900" dirty="0"/>
          </a:p>
        </p:txBody>
      </p:sp>
      <p:pic>
        <p:nvPicPr>
          <p:cNvPr id="8" name="Image 1" descr="/home/user/01/paquete_claude_design/imagenes_OMS/OMS_EXTRA_paho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5166360"/>
            <a:ext cx="2194560" cy="756407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949440" y="59893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B5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PAHO/OPS — oficina regional de la OMS para las Américas: un ejemplo de gobernanza multinivel</a:t>
            </a:r>
            <a:endParaRPr lang="en-US" sz="95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1508760"/>
            <a:ext cx="6035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2B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Constitución firmada en 1946; entró en vigor el </a:t>
            </a:r>
            <a:pPr algn="l" indent="0" marL="0">
              <a:spcAft>
                <a:spcPts val="1400"/>
              </a:spcAft>
              <a:buNone/>
            </a:pPr>
            <a:r>
              <a:rPr lang="en-US" sz="1500" b="1" dirty="0">
                <a:solidFill>
                  <a:srgbClr val="2B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de abril de 1948</a:t>
            </a:r>
            <a:endParaRPr lang="en-US" sz="1500" dirty="0"/>
          </a:p>
          <a:p>
            <a:pPr algn="l" marL="228600" indent="-2286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2B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Organismo especializado de las Naciones Unidas</a:t>
            </a:r>
            <a:endParaRPr lang="en-US" sz="1500" dirty="0"/>
          </a:p>
          <a:p>
            <a:pPr algn="l" marL="228600" indent="-2286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2B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Sede en </a:t>
            </a:r>
            <a:pPr algn="l" indent="0" marL="0">
              <a:spcAft>
                <a:spcPts val="1400"/>
              </a:spcAft>
              <a:buNone/>
            </a:pPr>
            <a:r>
              <a:rPr lang="en-US" sz="1500" b="1" dirty="0">
                <a:solidFill>
                  <a:srgbClr val="2B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Ginebra, Suiza</a:t>
            </a:r>
            <a:endParaRPr lang="en-US" sz="1500" dirty="0"/>
          </a:p>
          <a:p>
            <a:pPr algn="l" marL="228600" indent="-2286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2B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 países miembros (incluyendo Bolivia)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548640" y="3703320"/>
            <a:ext cx="60350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CFC0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3840480"/>
            <a:ext cx="5577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2B2620"/>
                </a:solidFill>
              </a:rPr>
              <a:t>"Estado de bienestar físico, mental y social completo,</a:t>
            </a:r>
            <a:endParaRPr lang="en-US" sz="1400" dirty="0"/>
          </a:p>
          <a:p>
            <a:pPr algn="l" indent="0" marL="0">
              <a:buNone/>
            </a:pPr>
            <a:r>
              <a:rPr lang="en-US" sz="1400" i="1" dirty="0">
                <a:solidFill>
                  <a:srgbClr val="2B2620"/>
                </a:solidFill>
              </a:rPr>
              <a:t>no sólo la ausencia de enfermedad"</a:t>
            </a:r>
            <a:endParaRPr lang="en-US" sz="14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6B5F52"/>
                </a:solidFill>
              </a:rPr>
              <a:t>— Definición de Salud, OMS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525780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¿Sabían que…?  </a:t>
            </a:r>
            <a:pPr algn="l" indent="0" marL="0">
              <a:buNone/>
            </a:pPr>
            <a:r>
              <a:rPr lang="en-US" sz="1300" dirty="0">
                <a:solidFill>
                  <a:srgbClr val="2B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cuando nació la OMS, la tuberculosis era la principal causa de muerte en el mundo.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07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FUNCIONES ESTRATÉGICAS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Funciones Principales de la OMS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OMS en Bolivia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5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600200"/>
            <a:ext cx="502920" cy="502920"/>
          </a:xfrm>
          <a:prstGeom prst="ellipse">
            <a:avLst/>
          </a:prstGeom>
          <a:solidFill>
            <a:srgbClr val="0072B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1545336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Establecer Normas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1874520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5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 estándares internacionales de salud que todos los países deben cumplir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2651760"/>
            <a:ext cx="502920" cy="502920"/>
          </a:xfrm>
          <a:prstGeom prst="ellipse">
            <a:avLst/>
          </a:prstGeom>
          <a:solidFill>
            <a:srgbClr val="0072B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651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2596896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Vigilancia de Enfermedades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926080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5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Monitorea enfermedades en todo el mundo, detecta brotes y epidemias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703320"/>
            <a:ext cx="502920" cy="502920"/>
          </a:xfrm>
          <a:prstGeom prst="ellipse">
            <a:avLst/>
          </a:prstGeom>
          <a:solidFill>
            <a:srgbClr val="0072B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3703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3648456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Asistencia Técnica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3977640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5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Ayuda a países a fortalecer sistemas de salud y entrena personal médico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4754880"/>
            <a:ext cx="502920" cy="502920"/>
          </a:xfrm>
          <a:prstGeom prst="ellipse">
            <a:avLst/>
          </a:prstGeom>
          <a:solidFill>
            <a:srgbClr val="0072B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0080" y="4754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1371600" y="4700016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Investigación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5029200"/>
            <a:ext cx="10149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5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Promueve investigación científica y comparte evidencia con todos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5852160"/>
            <a:ext cx="11091672" cy="640080"/>
          </a:xfrm>
          <a:prstGeom prst="rect">
            <a:avLst/>
          </a:prstGeom>
          <a:solidFill>
            <a:srgbClr val="EAF2F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77240" y="5961888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América:  </a:t>
            </a:r>
            <a:pPr algn="l" indent="0" marL="0">
              <a:buNone/>
            </a:pPr>
            <a:r>
              <a:rPr lang="en-US" sz="1300" dirty="0">
                <a:solidFill>
                  <a:srgbClr val="2B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OMS funciona a través de PAHO (Organización Panamericana de la Salud), con oficina en La Paz.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0072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PRESENCIA Y CONTEXTO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OMS en Bolivia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OMS en Bolivia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5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01/paquete_claude_design/imagenes_OMS/OMS_S4_oms-en-bolivia_skyline-lapaz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417320"/>
            <a:ext cx="11091672" cy="23317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378561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B5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Paz, sede de la oficina de PAHO en Bolivia</a:t>
            </a:r>
            <a:endParaRPr lang="en-US" sz="1000" dirty="0"/>
          </a:p>
        </p:txBody>
      </p:sp>
      <p:pic>
        <p:nvPicPr>
          <p:cNvPr id="8" name="Image 1" descr="/home/user/01/paquete_claude_design/imagenes_OMS/OMS_EXTRA_ministerio-salud-bolivia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0" y="3730752"/>
            <a:ext cx="1371600" cy="544127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48640" y="42062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Principales desafíos de salud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4572000"/>
            <a:ext cx="5394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Tuberculosis (105 casos/100,000 hab., 2023)</a:t>
            </a:r>
            <a:endParaRPr lang="en-US" sz="1250" dirty="0"/>
          </a:p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de vacunación insuficiente en algunas comunidades</a:t>
            </a:r>
            <a:endParaRPr lang="en-US" sz="1250" dirty="0"/>
          </a:p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VIH/SIDA (principalmente La Paz y Santa Cruz)</a:t>
            </a:r>
            <a:endParaRPr lang="en-US" sz="1250" dirty="0"/>
          </a:p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Desnutrición infantil en el altiplano</a:t>
            </a:r>
            <a:endParaRPr lang="en-US" sz="1250" dirty="0"/>
          </a:p>
        </p:txBody>
      </p:sp>
      <p:sp>
        <p:nvSpPr>
          <p:cNvPr id="11" name="Text 7"/>
          <p:cNvSpPr txBox="1"/>
          <p:nvPr/>
        </p:nvSpPr>
        <p:spPr>
          <a:xfrm>
            <a:off x="6245352" y="42062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8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logro sostenido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6245352" y="4572000"/>
            <a:ext cx="5394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Región de las Américas libre de poliomielitis desde 1994 (30+ años)</a:t>
            </a:r>
            <a:endParaRPr lang="en-US" sz="1250" dirty="0"/>
          </a:p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de cooperantes técnicos en las principales ciudades</a:t>
            </a:r>
            <a:endParaRPr lang="en-US" sz="1250" dirty="0"/>
          </a:p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Colaboración permanente con el Ministerio de Salud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DE ESTUDIO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Tuberculosis en Bolivia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OMS en Bolivia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5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pic>
        <p:nvPicPr>
          <p:cNvPr id="6" name="Image 0" descr="/home/user/01/paquete_claude_design/imagenes_OMS/OMS_S5_caso-tuberculosis_bacteria-microscopi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412480" y="1417320"/>
            <a:ext cx="3227832" cy="322783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412480" y="4663440"/>
            <a:ext cx="3227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5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Mycobacterium tuberculosis (microscopía electrónica) — CDC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7635240" cy="914400"/>
        </p:xfrm>
        <a:graphic>
          <a:graphicData uri="http://schemas.openxmlformats.org/drawingml/2006/table">
            <a:tbl>
              <a:tblPr/>
              <a:tblGrid>
                <a:gridCol w="4892040"/>
                <a:gridCol w="27432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Indicador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44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Cifra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440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Incidencia Bolivia (2023)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 / 100,000 hab.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Incidencia Región Américas (2022)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31.4 / 100,000 hab.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Diferencia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 veces mayor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548640" y="3063240"/>
            <a:ext cx="7635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Estrategia OMS — DOTS: </a:t>
            </a:r>
            <a:pPr algn="l" indent="0" marL="0">
              <a:buNone/>
            </a:pPr>
            <a:r>
              <a:rPr lang="en-US" sz="1250" dirty="0">
                <a:solidFill>
                  <a:srgbClr val="2B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tratamiento supervisado directamente por personal de salud, medicamentos gratuitos en la red pública, 6 meses de duración.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548640" y="3977640"/>
            <a:ext cx="7635240" cy="1051560"/>
          </a:xfrm>
          <a:prstGeom prst="rect">
            <a:avLst/>
          </a:prstGeom>
          <a:solidFill>
            <a:srgbClr val="FBEDE7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777240" y="4087368"/>
            <a:ext cx="7178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 honesto:  </a:t>
            </a:r>
            <a:pPr algn="l" indent="0" marL="0">
              <a:buNone/>
            </a:pPr>
            <a:r>
              <a:rPr lang="en-US" sz="1250" dirty="0">
                <a:solidFill>
                  <a:srgbClr val="2B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según la OMS, la incidencia de TB en la Región de las Américas aumentó 20% entre 2015 y 2023 — no es una historia de progreso lineal.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5166360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Desafíos que persisten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5440680"/>
            <a:ext cx="7635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2B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Subdiagnóstico en zonas rurales  ·  </a:t>
            </a:r>
            <a:pPr algn="l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2B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TB resistente a fármacos (MDR-TB)  ·  </a:t>
            </a:r>
            <a:pPr algn="l"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2B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Abandono del tratamiento supervisado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DE ESTUDIO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Sarampión — Cuando un Logro No Es Permanente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OMS en Bolivia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5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57607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45720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440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440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Último caso endémico (Amarete, La Paz)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Bolivia certificada libre de sarampión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Recertificación de todos los departamentos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Jun. 2025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Emergencia Sanitaria Nacional por nuevo brote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3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365760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causa raíz</a:t>
            </a:r>
            <a:endParaRPr lang="en-US" sz="13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950208"/>
          <a:ext cx="576072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371600"/>
                <a:gridCol w="13716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Indicador 2023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2B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Cifra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2B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2B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1ª dosis SRP (&lt;1 año)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Esquema completo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50%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3"/>
                    </a:solidFill>
                  </a:tcPr>
                </a:tc>
              </a:tr>
            </a:tbl>
          </a:graphicData>
        </a:graphic>
      </p:graphicFrame>
      <p:pic>
        <p:nvPicPr>
          <p:cNvPr id="9" name="Image 0" descr="/home/user/01/paquete_claude_design/imagenes_OMS/OMS_S6_caso-sarampion_vacuna-mm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29400" y="1463040"/>
            <a:ext cx="2194560" cy="292608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6629400" y="44348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5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Vacuna MMR/SRP</a:t>
            </a:r>
            <a:endParaRPr lang="en-US" sz="900" dirty="0"/>
          </a:p>
        </p:txBody>
      </p:sp>
      <p:sp>
        <p:nvSpPr>
          <p:cNvPr id="11" name="Shape 6"/>
          <p:cNvSpPr/>
          <p:nvPr/>
        </p:nvSpPr>
        <p:spPr>
          <a:xfrm>
            <a:off x="9098280" y="1463040"/>
            <a:ext cx="2542032" cy="2880360"/>
          </a:xfrm>
          <a:prstGeom prst="rect">
            <a:avLst/>
          </a:prstGeom>
          <a:solidFill>
            <a:srgbClr val="EAF2F8"/>
          </a:solidFill>
          <a:ln/>
        </p:spPr>
      </p:sp>
      <p:sp>
        <p:nvSpPr>
          <p:cNvPr id="12" name="Text 7"/>
          <p:cNvSpPr txBox="1"/>
          <p:nvPr/>
        </p:nvSpPr>
        <p:spPr>
          <a:xfrm>
            <a:off x="9281160" y="1600200"/>
            <a:ext cx="21945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72BC"/>
                </a:solidFill>
              </a:rPr>
              <a:t>Contraste — Poliomielitis
</a:t>
            </a:r>
            <a:endParaRPr lang="en-US" sz="130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2B2620"/>
                </a:solidFill>
              </a:rPr>
              <a:t>Región libre de polio desde 1994. Sin casos desde 1991 (último: Perú). Más de 30 años de éxito ininterrumpido.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548640" y="52120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C144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lección:  </a:t>
            </a:r>
            <a:pPr algn="l" indent="0" marL="0">
              <a:buNone/>
            </a:pPr>
            <a:r>
              <a:rPr lang="en-US" sz="1250" dirty="0">
                <a:solidFill>
                  <a:srgbClr val="2B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logro sanitario no es un punto de llegada. La cobertura cayó silenciosamente años antes del brote.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3D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10728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E8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CONCLUSIÓN — OMS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788920"/>
            <a:ext cx="107286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Trabajo Nunca Terminado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1188720" y="2377440"/>
            <a:ext cx="98142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En salud pública, no hay logros permanentes,
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i="1" dirty="0">
                <a:solidFill>
                  <a:srgbClr val="9FD3F0"/>
                </a:solidFill>
              </a:rPr>
              <a:t>solo logros sostenidos.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1828800" y="39319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9FD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3.3x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464515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5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incidencia de TB vs. promedio regional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675120" y="39319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9FD3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68% → 95%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464515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5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brecha de cobertura SRP frente a la meta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5486400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E8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tuberculosis nunca llegó a controlarse del todo; el sarampión sí se controló, y aun así volvió.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B3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01/paquete_claude_design/imagenes_UNESCO/UNESCO_S1_portada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24248" y="822960"/>
            <a:ext cx="2743200" cy="70692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31520" y="1987081"/>
            <a:ext cx="10728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E8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ORGANISMOS INTERNACIONALES EN BOLIVIA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2398561"/>
            <a:ext cx="107286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UNESCO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1188720" y="3450121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E8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Protegiendo la Cultura y Educación en Bolivia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594360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9BF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[Nombre Presentador 2]  ·  [Institución]  ·  2026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ORGANISMO ESPECIALIZADO DE LA ONU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es UNESCO?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UNESCO en Bolivia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5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08760"/>
            <a:ext cx="6035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2B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Fundada en </a:t>
            </a:r>
            <a:pPr algn="l" indent="0" marL="0">
              <a:spcAft>
                <a:spcPts val="1400"/>
              </a:spcAft>
              <a:buNone/>
            </a:pPr>
            <a:r>
              <a:rPr lang="en-US" sz="1500" b="1" dirty="0">
                <a:solidFill>
                  <a:srgbClr val="2B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1945</a:t>
            </a:r>
            <a:pPr algn="l" indent="0" marL="0">
              <a:spcAft>
                <a:spcPts val="1400"/>
              </a:spcAft>
              <a:buNone/>
            </a:pPr>
            <a:r>
              <a:rPr lang="en-US" sz="1500" dirty="0">
                <a:solidFill>
                  <a:srgbClr val="2B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después de la Segunda Guerra Mundial</a:t>
            </a:r>
            <a:endParaRPr lang="en-US" sz="1500" dirty="0"/>
          </a:p>
          <a:p>
            <a:pPr algn="l" marL="228600" indent="-2286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2B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Organismo especializado de las Naciones Unidas</a:t>
            </a:r>
            <a:endParaRPr lang="en-US" sz="1500" dirty="0"/>
          </a:p>
          <a:p>
            <a:pPr algn="l" marL="228600" indent="-2286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2B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Sede en </a:t>
            </a:r>
            <a:pPr algn="l" indent="0" marL="0">
              <a:spcAft>
                <a:spcPts val="1400"/>
              </a:spcAft>
              <a:buNone/>
            </a:pPr>
            <a:r>
              <a:rPr lang="en-US" sz="1500" b="1" dirty="0">
                <a:solidFill>
                  <a:srgbClr val="2B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París, Francia</a:t>
            </a:r>
            <a:endParaRPr lang="en-US" sz="1500" dirty="0"/>
          </a:p>
          <a:p>
            <a:pPr algn="l" marL="228600" indent="-2286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2B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195 países miembros (incluyendo Bolivia)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3520440"/>
            <a:ext cx="603504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CFC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639312"/>
            <a:ext cx="5577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2B2620"/>
                </a:solidFill>
              </a:rPr>
              <a:t>"Puesto que las guerras nacen en la mente de los</a:t>
            </a:r>
            <a:endParaRPr lang="en-US" sz="1300" dirty="0"/>
          </a:p>
          <a:p>
            <a:pPr algn="l" indent="0" marL="0">
              <a:buNone/>
            </a:pPr>
            <a:r>
              <a:rPr lang="en-US" sz="1300" i="1" dirty="0">
                <a:solidFill>
                  <a:srgbClr val="2B2620"/>
                </a:solidFill>
              </a:rPr>
              <a:t>hombres, es en la mente de los hombres donde</a:t>
            </a:r>
            <a:endParaRPr lang="en-US" sz="1300" dirty="0"/>
          </a:p>
          <a:p>
            <a:pPr algn="l" indent="0" marL="0">
              <a:buNone/>
            </a:pPr>
            <a:r>
              <a:rPr lang="en-US" sz="1300" i="1" dirty="0">
                <a:solidFill>
                  <a:srgbClr val="2B2620"/>
                </a:solidFill>
              </a:rPr>
              <a:t>deben erigirse los baluartes de la paz"</a:t>
            </a:r>
            <a:endParaRPr lang="en-US" sz="13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6B5F52"/>
                </a:solidFill>
              </a:rPr>
              <a:t>— Lema de UNESCO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2064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¿Sabían que…?  </a:t>
            </a:r>
            <a:pPr algn="l" indent="0" marL="0">
              <a:buNone/>
            </a:pPr>
            <a:r>
              <a:rPr lang="en-US" sz="1300" dirty="0">
                <a:solidFill>
                  <a:srgbClr val="2B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Bolivia tiene 7 sitios en la Lista de Patrimonio Mundial de UNESCO.</a:t>
            </a:r>
            <a:endParaRPr lang="en-US" sz="1300" dirty="0"/>
          </a:p>
        </p:txBody>
      </p:sp>
      <p:pic>
        <p:nvPicPr>
          <p:cNvPr id="10" name="Image 0" descr="/home/user/01/paquete_claude_design/imagenes_UNESCO/UNESCO_S2_que-es-unes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0" y="2377440"/>
            <a:ext cx="4206240" cy="1083946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7406640" y="35204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B5651D"/>
                </a:solidFill>
              </a:rPr>
              <a:t>Su instrumento característico: </a:t>
            </a:r>
            <a:pPr algn="l" indent="0" marL="0">
              <a:buNone/>
            </a:pPr>
            <a:r>
              <a:rPr lang="en-US" sz="1150" dirty="0">
                <a:solidFill>
                  <a:srgbClr val="2B2620"/>
                </a:solidFill>
              </a:rPr>
              <a:t>convenciones internacionales, como la de 1972 sobre Patrimonio Mundial, ratificada por Bolivia.</a:t>
            </a:r>
            <a:endParaRPr lang="en-US" sz="1150" dirty="0"/>
          </a:p>
        </p:txBody>
      </p:sp>
      <p:pic>
        <p:nvPicPr>
          <p:cNvPr id="12" name="Image 1" descr="/home/user/01/paquete_claude_design/imagenes_UNESCO/UNESCO_EXTRA_sede-paris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863840" y="4160520"/>
            <a:ext cx="2743200" cy="181965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863840" y="600760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5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Sede de UNESCO, París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PILARES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Funciones Principales de UNESCO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UNESCO en Bolivia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5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1600200"/>
            <a:ext cx="502920" cy="502920"/>
          </a:xfrm>
          <a:prstGeom prst="ellipse">
            <a:avLst/>
          </a:prstGeom>
          <a:solidFill>
            <a:srgbClr val="B5651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16002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1545336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Educación de Calidad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187452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5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Acceso equitativo para todos, con énfasis en niñas y minorías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2651760"/>
            <a:ext cx="502920" cy="502920"/>
          </a:xfrm>
          <a:prstGeom prst="ellipse">
            <a:avLst/>
          </a:prstGeom>
          <a:solidFill>
            <a:srgbClr val="B5651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2651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2596896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Patrimonio Cultural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92608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5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 sitios arqueológicos y preserva tradiciones vivas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703320"/>
            <a:ext cx="502920" cy="502920"/>
          </a:xfrm>
          <a:prstGeom prst="ellipse">
            <a:avLst/>
          </a:prstGeom>
          <a:solidFill>
            <a:srgbClr val="B5651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" y="3703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3648456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Libertad de Expresión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397764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5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Defiende la libertad de prensa y el acceso a información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" y="4754880"/>
            <a:ext cx="502920" cy="502920"/>
          </a:xfrm>
          <a:prstGeom prst="ellipse">
            <a:avLst/>
          </a:prstGeom>
          <a:solidFill>
            <a:srgbClr val="B5651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0080" y="4754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1371600" y="4700016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Ciencia y Tecnología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5029200"/>
            <a:ext cx="5943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5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Promueve investigación e innovación para el desarrollo</a:t>
            </a:r>
            <a:endParaRPr lang="en-US" sz="1200" dirty="0"/>
          </a:p>
        </p:txBody>
      </p:sp>
      <p:pic>
        <p:nvPicPr>
          <p:cNvPr id="22" name="Image 0" descr="/home/user/01/paquete_claude_design/imagenes_UNESCO/UNESCO_S3_que-hace-unesco_emblema-patrimonio-mund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6760" y="1828800"/>
            <a:ext cx="3017520" cy="3017520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7863840" y="5074920"/>
            <a:ext cx="39319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B5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 de Programas UNESCO en La Paz coordina educación, patrimonio y comunicación. UNESCO desde la gestión pública: el reconocimiento internacional no genera presupuesto por sí solo — la conservación depende de la administración pública nacional.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RECONOCIMIENTOS OFICIALES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UNESCO en Bolivia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UNESCO en Bolivia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5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6675120" cy="914400"/>
        </p:xfrm>
        <a:graphic>
          <a:graphicData uri="http://schemas.openxmlformats.org/drawingml/2006/table">
            <a:tbl>
              <a:tblPr/>
              <a:tblGrid>
                <a:gridCol w="5303520"/>
                <a:gridCol w="13716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Sitio (Patrimonio Mundial)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651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651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Ciudad de Potosí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Misiones Jesuíticas de Chiquitos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Sucre (centro histórico)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Fuerte de Samaipata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Tiwanaku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P.N. Noel Kempff Mercado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Qhapaq Ñan (transnacional)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6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F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507492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C9B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+ 1 Patrimonio Cultural Inmaterial (lista aparte):  </a:t>
            </a:r>
            <a:pPr indent="0" marL="0">
              <a:buNone/>
            </a:pPr>
            <a:r>
              <a:rPr lang="en-US" sz="1250" dirty="0">
                <a:solidFill>
                  <a:srgbClr val="2B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Carnaval de Oruro (2001)</a:t>
            </a:r>
            <a:endParaRPr lang="en-US" sz="1250" dirty="0"/>
          </a:p>
        </p:txBody>
      </p:sp>
      <p:pic>
        <p:nvPicPr>
          <p:cNvPr id="8" name="Image 0" descr="/home/user/01/paquete_claude_design/imagenes_UNESCO/UNESCO_S4_unesco-en-bolivia_mapa-departament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0" y="1554480"/>
            <a:ext cx="3931920" cy="444307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498080" y="580644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B5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Programas activos: educación para el desarrollo sostenible, alfabetización rural, formación docente, preservación de lenguas indígenas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DE ESTUDIO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Tiwanaku: Civilización Ancestral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UNESCO en Bolivia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5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pic>
        <p:nvPicPr>
          <p:cNvPr id="6" name="Image 0" descr="/home/user/01/paquete_claude_design/imagenes_UNESCO/UNESCO_S5a_tiwanaku_puerta-del-so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092440" y="1417320"/>
            <a:ext cx="3547872" cy="2240280"/>
          </a:xfrm>
          <a:prstGeom prst="rect">
            <a:avLst/>
          </a:prstGeom>
        </p:spPr>
      </p:pic>
      <p:pic>
        <p:nvPicPr>
          <p:cNvPr id="7" name="Image 1" descr="/home/user/01/paquete_claude_design/imagenes_UNESCO/UNESCO_S5b_tiwanaku_templo-kalasasaya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092440" y="3767328"/>
            <a:ext cx="3547872" cy="224028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092440" y="3657600"/>
            <a:ext cx="35478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5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Puerta del Sol</a:t>
            </a:r>
            <a:endParaRPr lang="en-US" sz="900" dirty="0"/>
          </a:p>
        </p:txBody>
      </p:sp>
      <p:sp>
        <p:nvSpPr>
          <p:cNvPr id="9" name="Text 5"/>
          <p:cNvSpPr txBox="1"/>
          <p:nvPr/>
        </p:nvSpPr>
        <p:spPr>
          <a:xfrm>
            <a:off x="8092440" y="6035040"/>
            <a:ext cx="35478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5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Templo de Kalasasaya</a:t>
            </a:r>
            <a:endParaRPr lang="en-US" sz="9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1508760"/>
            <a:ext cx="7223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B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Sitio arqueológico a 20 km de La Paz (71.5 hectáreas), Provincia de Ingavi</a:t>
            </a:r>
            <a:endParaRPr lang="en-US" sz="1350" dirty="0"/>
          </a:p>
          <a:p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B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Apogeo del imperio entre los años 500 y 900 d.C.</a:t>
            </a:r>
            <a:endParaRPr lang="en-US" sz="1350" dirty="0"/>
          </a:p>
          <a:p>
            <a:pPr algn="l" marL="228600" indent="-2286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2B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Influencia extendida por los Andes del sur (hoy Perú, Chile, Argentina)</a:t>
            </a:r>
            <a:endParaRPr lang="en-US" sz="135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3063240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565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Reconocimiento UNESCO (2000) — Ficha oficial 567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3383280"/>
            <a:ext cx="7223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2B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iii: </a:t>
            </a:r>
            <a:pPr algn="l"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2B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testimonio excepcional del poder del imperio Tiwanaku</a:t>
            </a:r>
            <a:endParaRPr lang="en-US" sz="1250" dirty="0"/>
          </a:p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2B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iv: </a:t>
            </a:r>
            <a:pPr algn="l"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2B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ceremonial y pública excepcional de los Andes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548640" y="4526280"/>
            <a:ext cx="7223760" cy="1600200"/>
          </a:xfrm>
          <a:prstGeom prst="rect">
            <a:avLst/>
          </a:prstGeom>
          <a:solidFill>
            <a:srgbClr val="FBF3E7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777240" y="4645152"/>
            <a:ext cx="67665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B5651D"/>
                </a:solidFill>
              </a:rPr>
              <a:t>Conservación e impacto
</a:t>
            </a:r>
            <a:endParaRPr lang="en-US" sz="13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2B2620"/>
                </a:solidFill>
              </a:rPr>
              <a:t>Restauración de estructuras dañadas por sismos y sistemas de drenaje contra erosión, en trabajo conjunto con el Ministerio de Culturas de Bolivia. ~200,000–250,000 visitantes anuales; símbolo de orgullo para comunidades aymara.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DE ESTUDIO 2 — PATRIMONIO INMATERIAL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Carnaval de Oruro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73952"/>
            <a:ext cx="112772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B5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UNESCO en Bolivia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5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pic>
        <p:nvPicPr>
          <p:cNvPr id="6" name="Image 0" descr="/home/user/01/paquete_claude_design/imagenes_UNESCO/UNESCO_S6_carnaval-oruro_diablad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1417320"/>
            <a:ext cx="3822192" cy="46634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818120" y="6108192"/>
            <a:ext cx="382219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5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Danzarines de la Diablada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508760"/>
            <a:ext cx="6949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Celebración religiosa y folclórica, febrero/marzo, en Oruro</a:t>
            </a:r>
            <a:endParaRPr lang="en-US" sz="1300" dirty="0"/>
          </a:p>
          <a:p>
            <a:pPr algn="l" marL="228600" indent="-2286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2B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 de danzarines y músicos, procesión de 2 días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4231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Danzas principales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2724912"/>
            <a:ext cx="6949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700"/>
              </a:spcAft>
              <a:buSzPct val="100000"/>
              <a:buChar char="•"/>
            </a:pPr>
            <a:r>
              <a:rPr lang="en-US" sz="1250" b="1" dirty="0">
                <a:solidFill>
                  <a:srgbClr val="2B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Diablada: </a:t>
            </a:r>
            <a:pPr algn="l"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2B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batalla entre el bien y el mal</a:t>
            </a:r>
            <a:endParaRPr lang="en-US" sz="1250" dirty="0"/>
          </a:p>
          <a:p>
            <a:pPr algn="l" marL="228600" indent="-228600">
              <a:spcAft>
                <a:spcPts val="700"/>
              </a:spcAft>
              <a:buSzPct val="100000"/>
              <a:buChar char="•"/>
            </a:pPr>
            <a:r>
              <a:rPr lang="en-US" sz="1250" b="1" dirty="0">
                <a:solidFill>
                  <a:srgbClr val="2B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Morenada: </a:t>
            </a:r>
            <a:pPr algn="l"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2B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 la esclavitud africana</a:t>
            </a:r>
            <a:endParaRPr lang="en-US" sz="1250" dirty="0"/>
          </a:p>
          <a:p>
            <a:pPr algn="l" marL="228600" indent="-228600">
              <a:spcAft>
                <a:spcPts val="700"/>
              </a:spcAft>
              <a:buSzPct val="100000"/>
              <a:buChar char="•"/>
            </a:pPr>
            <a:r>
              <a:rPr lang="en-US" sz="1250" b="1" dirty="0">
                <a:solidFill>
                  <a:srgbClr val="2B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Tinku: </a:t>
            </a:r>
            <a:pPr algn="l"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2B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confrontación ritual indígena</a:t>
            </a:r>
            <a:endParaRPr lang="en-US" sz="1250" dirty="0"/>
          </a:p>
          <a:p>
            <a:pPr algn="l" marL="228600" indent="-228600">
              <a:spcAft>
                <a:spcPts val="700"/>
              </a:spcAft>
              <a:buSzPct val="100000"/>
              <a:buChar char="•"/>
            </a:pPr>
            <a:r>
              <a:rPr lang="en-US" sz="1250" b="1" dirty="0">
                <a:solidFill>
                  <a:srgbClr val="2B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Andanza: </a:t>
            </a:r>
            <a:pPr algn="l" indent="0" marL="0">
              <a:spcAft>
                <a:spcPts val="700"/>
              </a:spcAft>
              <a:buNone/>
            </a:pPr>
            <a:r>
              <a:rPr lang="en-US" sz="1250" dirty="0">
                <a:solidFill>
                  <a:srgbClr val="2B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danza de celebración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48640" y="4434840"/>
            <a:ext cx="6949440" cy="914400"/>
          </a:xfrm>
          <a:prstGeom prst="rect">
            <a:avLst/>
          </a:prstGeom>
          <a:solidFill>
            <a:srgbClr val="EAE6F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77240" y="4544568"/>
            <a:ext cx="6492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3A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Reconocimiento UNESCO (2001): </a:t>
            </a:r>
            <a:pPr algn="l" indent="0" marL="0">
              <a:buNone/>
            </a:pPr>
            <a:r>
              <a:rPr lang="en-US" sz="1200" dirty="0">
                <a:solidFill>
                  <a:srgbClr val="2B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Patrimonio Inmaterial de la Humanidad — uno de los primeros reconocidos en esta categoría.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548640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150" dirty="0">
                <a:solidFill>
                  <a:srgbClr val="2B26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Desafíos: presión del turismo, menor interés juvenil, costo alto de participación, modernización vs. tradición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6B34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377440"/>
            <a:ext cx="107286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E8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CONCLUSIÓN — UNESCO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788920"/>
            <a:ext cx="107286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Cultura y Educación</a:t>
            </a:r>
            <a:endParaRPr lang="en-US" sz="4000" dirty="0"/>
          </a:p>
        </p:txBody>
      </p:sp>
      <p:pic>
        <p:nvPicPr>
          <p:cNvPr id="4" name="Image 0" descr="/home/user/01/paquete_claude_design/imagenes_UNESCO/UNESCO_S7_conclusion_templo-kalasasaya.jp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6B3410">
              <a:alpha val="65000"/>
            </a:srgbClr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1188720" y="2011680"/>
            <a:ext cx="98142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cultura es un derecho humano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1463040" y="2880360"/>
            <a:ext cx="92656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0E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OMS cuida nuestra salud física. UNESCO cuida nuestra salud cultural.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i="1" dirty="0">
                <a:solidFill>
                  <a:srgbClr val="F0E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Ambas son necesarias para que Bolivia prospere.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828800" y="42062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0C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+ 1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1828800" y="491947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5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sitios Patrimonio Mundial + Inmaterial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675120" y="420624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0C4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500+ años</a:t>
            </a:r>
            <a:endParaRPr lang="en-US" sz="4400" dirty="0"/>
          </a:p>
        </p:txBody>
      </p:sp>
      <p:sp>
        <p:nvSpPr>
          <p:cNvPr id="11" name="Text 8"/>
          <p:cNvSpPr txBox="1"/>
          <p:nvPr/>
        </p:nvSpPr>
        <p:spPr>
          <a:xfrm>
            <a:off x="6675120" y="491947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5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historia, de Tiwanaku al Carnaval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1188720" y="5852160"/>
            <a:ext cx="9814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8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Gracias.  Tanto la OMS como UNESCO trabajan por un Bolivia más desarrollado, más saludable y con mayor orgullo en su cultura.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2026-09-25T08:02:23Z</dcterms:created>
  <dcterms:modified xsi:type="dcterms:W3CDTF">2026-09-25T08:02:23Z</dcterms:modified>
</cp:coreProperties>
</file>